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371600"/>
            <a:ext cx="137160" cy="3840480"/>
          </a:xfrm>
          <a:prstGeom prst="rect">
            <a:avLst/>
          </a:prstGeom>
          <a:solidFill>
            <a:srgbClr val="CEDC28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6459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PERFORMANCE PLATFORM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210312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Marketing Intelligence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Algorithmic Media Pacing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Multi-Event Media Analytics • Deterministic Strategic Directives • Real-Time War Room Operations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4846320"/>
            <a:ext cx="2423160" cy="594360"/>
          </a:xfrm>
          <a:prstGeom prst="roundRect">
            <a:avLst>
              <a:gd name="adj" fmla="val 15385"/>
            </a:avLst>
          </a:prstGeom>
          <a:solidFill>
            <a:srgbClr val="102E5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846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Sub-50ms Edge Telemetry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03320" y="4846320"/>
            <a:ext cx="2423160" cy="594360"/>
          </a:xfrm>
          <a:prstGeom prst="roundRect">
            <a:avLst>
              <a:gd name="adj" fmla="val 15385"/>
            </a:avLst>
          </a:prstGeom>
          <a:solidFill>
            <a:srgbClr val="102E5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4846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AI Heuristics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4846320"/>
            <a:ext cx="2423160" cy="594360"/>
          </a:xfrm>
          <a:prstGeom prst="roundRect">
            <a:avLst>
              <a:gd name="adj" fmla="val 15385"/>
            </a:avLst>
          </a:prstGeom>
          <a:solidFill>
            <a:srgbClr val="102E5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4846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W20→W0 Countdown Engine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915400" y="4846320"/>
            <a:ext cx="2423160" cy="594360"/>
          </a:xfrm>
          <a:prstGeom prst="roundRect">
            <a:avLst>
              <a:gd name="adj" fmla="val 15385"/>
            </a:avLst>
          </a:prstGeom>
          <a:solidFill>
            <a:srgbClr val="102E5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15400" y="48463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Hands-Free TV Wallboard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9728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Architecture &amp; Capability Deck  |  Production Release v2.4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CHALLENGE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Dilemma of Modern Event Media Portfolios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multi-channel ad spend leads to missed optimization windows and budget drift.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698480" cy="0"/>
          </a:xfrm>
          <a:prstGeom prst="line">
            <a:avLst/>
          </a:prstGeom>
          <a:noFill/>
          <a:ln w="12700">
            <a:solidFill>
              <a:srgbClr val="1E49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MARKETING INTELLIGENCE PLATFORM  |  CONFIDENTIAL EXECUTIVE OVERVIEW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6400800"/>
            <a:ext cx="1097280" cy="27432"/>
          </a:xfrm>
          <a:prstGeom prst="rect">
            <a:avLst/>
          </a:prstGeom>
          <a:solidFill>
            <a:srgbClr val="CEDC2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28800"/>
            <a:ext cx="3383280" cy="4206240"/>
          </a:xfrm>
          <a:prstGeom prst="roundRect">
            <a:avLst>
              <a:gd name="adj" fmla="val 4054"/>
            </a:avLst>
          </a:prstGeom>
          <a:solidFill>
            <a:srgbClr val="102E52"/>
          </a:solidFill>
          <a:ln w="19050">
            <a:solidFill>
              <a:srgbClr val="1E49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Fragmentation &amp; Multi-Currency Silos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291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enterprise events running multi-market flights across Meta, Google, LinkedIn, TikTok, and DV360.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Disjointed regional currencies (USD, SAR, AED, EUR) obscure aggregate exposure.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Divergent attribution models delay consolidated ROI visibility by days.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383280" cy="4206240"/>
          </a:xfrm>
          <a:prstGeom prst="roundRect">
            <a:avLst>
              <a:gd name="adj" fmla="val 4054"/>
            </a:avLst>
          </a:prstGeom>
          <a:solidFill>
            <a:srgbClr val="102E52"/>
          </a:solidFill>
          <a:ln w="19050">
            <a:solidFill>
              <a:srgbClr val="1E49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Retrospective Optimization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3291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reporting focuses on retrospective retrospectives rather than active in-flight interventions.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High-CPA audience exhaustion goes unnoticed until weekly reviews.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Media budget remains trapped in underperforming channels instead of shifting to volume drivers.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383280" cy="4206240"/>
          </a:xfrm>
          <a:prstGeom prst="roundRect">
            <a:avLst>
              <a:gd name="adj" fmla="val 4054"/>
            </a:avLst>
          </a:prstGeom>
          <a:solidFill>
            <a:srgbClr val="102E52"/>
          </a:solidFill>
          <a:ln w="19050">
            <a:solidFill>
              <a:srgbClr val="1E49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21040" y="256032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 Pacing Blindspots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329184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marketing requires strict alignment to relative launch dates (W20 countdown to W0 doors open).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Static calendar views fail to normalize campaigns with differing launch timelines.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Unmonitored creative fatigue leads to sudden click-through degradation.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Architecture &amp; Deterministic Operations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High-resilience cloud ingestion paired with client-side acceleration and mathematical modeling.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698480" cy="0"/>
          </a:xfrm>
          <a:prstGeom prst="line">
            <a:avLst/>
          </a:prstGeom>
          <a:noFill/>
          <a:ln w="12700">
            <a:solidFill>
              <a:srgbClr val="1E49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MARKETING INTELLIGENCE PLATFORM  |  CONFIDENTIAL EXECUTIVE OVERVIEW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6400800"/>
            <a:ext cx="1097280" cy="27432"/>
          </a:xfrm>
          <a:prstGeom prst="rect">
            <a:avLst/>
          </a:prstGeom>
          <a:solidFill>
            <a:srgbClr val="CEDC2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2880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116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1: DATA INGESTION &amp; NORMALIZATION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Omnichannel Ingestion &amp; Live Currency Parity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High-speed sheet proxy with 5-minute in-memory caching &amp; SWR resilience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currency parity engine (USD &amp; SAR with live toggle)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Multi-event tag normalization (B2B vs B2C automated taxonomy)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0116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2: RESILIENT EDGE GATEWAY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92240" y="22402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Zero-Downtime Cache &amp; Request Coalescing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65176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In-flight request deduplication prevents upstream Google rate limits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Dual-layer cache fallback guarantees sub-50ms response across 15,000+ rows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hydration fallback keeps war-room dashboards fully operable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251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3: DETERMINISTIC AI ENGINE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05840" y="4480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Intelligence &amp; Daily Next Steps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89204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100% deterministic heuristic calculations (Zero LLM hallucinations)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daily tactical directives across Spend, Audience, Scaling &amp; Creatives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closed-loop calibration adapting to marketing team preferences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406908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251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4: EXECUTIVE PRESENTATION &amp; GOVERNANCE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92240" y="44805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Multi-Modal Navigation &amp; Super Admin Security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489204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multi-tier responsive layout with zero filter collision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Hands-free TV Presentation Mode for executive live monitoring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Strict Super Admin authorization with 24-feature toggle control hub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NAVIGATION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Operational Command Views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to serve every stakeholder: from C-suite executives to media buying specialists.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698480" cy="0"/>
          </a:xfrm>
          <a:prstGeom prst="line">
            <a:avLst/>
          </a:prstGeom>
          <a:noFill/>
          <a:ln w="12700">
            <a:solidFill>
              <a:srgbClr val="1E49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MARKETING INTELLIGENCE PLATFORM  |  CONFIDENTIAL EXECUTIVE OVERVIEW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6400800"/>
            <a:ext cx="1097280" cy="27432"/>
          </a:xfrm>
          <a:prstGeom prst="rect">
            <a:avLst/>
          </a:prstGeom>
          <a:solidFill>
            <a:srgbClr val="CEDC2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2880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116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C-SUITE &amp; VP MARKETING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6517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cross-portfolio health, spend distribution, efficiency leaders, and aggregate volume trajectory.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116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DIRECTORS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63440" y="2240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Pacing (W20→W0)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6517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countdown analysis, weekly spend vs target pacing, and runway projection toward launch day.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0116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DIRECTORS &amp; LEADS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321040" y="2240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Deep-Dive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6517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phase metrics (Awareness, Consideration, Conversion), burst flighting, and event-specific benchmarks.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206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BUYERS &amp; AGENCIES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4434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Quadrants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48463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4-quadrant efficiency matrix identifying Stars, Niche Volume Drivers, and high-spend Cost Sinks in real time.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402336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206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&amp; CREATIVE LEADS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3440" y="4434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Fatigue Radar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63440" y="48463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frequency saturation detector flagging decaying creatives before CPA spikes erode marketing efficiency.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046720" y="4023360"/>
            <a:ext cx="3383280" cy="1965960"/>
          </a:xfrm>
          <a:prstGeom prst="roundRect">
            <a:avLst>
              <a:gd name="adj" fmla="val 5581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42062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WAR-ROOM DISPLAYS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321040" y="4434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Wallboard Mode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21040" y="484632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hands-free display cycling top operational views for real-time executive visibility during campaign flight.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OPTIMIZATION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Next Steps &amp; Closed-Loop AI Tuning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Replacing subjective marketing guesswork with daily deterministic tactical actions.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698480" cy="0"/>
          </a:xfrm>
          <a:prstGeom prst="line">
            <a:avLst/>
          </a:prstGeom>
          <a:noFill/>
          <a:ln w="12700">
            <a:solidFill>
              <a:srgbClr val="1E49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MARKETING INTELLIGENCE PLATFORM  |  CONFIDENTIAL EXECUTIVE OVERVIEW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6400800"/>
            <a:ext cx="1097280" cy="27432"/>
          </a:xfrm>
          <a:prstGeom prst="rect">
            <a:avLst/>
          </a:prstGeom>
          <a:solidFill>
            <a:srgbClr val="CEDC2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28800"/>
            <a:ext cx="6217920" cy="4297680"/>
          </a:xfrm>
          <a:prstGeom prst="roundRect">
            <a:avLst>
              <a:gd name="adj" fmla="val 2553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11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TACTICAL DIRECTIVES ENGINE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🛑  Spend Bleed Audit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371600" y="26974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 identifies ad sets with high spend (&gt; $1,500) and zero conversions, recommending immediate budget reallocation.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32918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Audience Refinement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371600" y="35661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CPA spikes exceeding 1.8x the portfolio baseline and flags saturated lookalike audiences for creative restructuring.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05840" y="41605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Scaling Opportunities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Recommends conservative budget increases (+10% to +15%) for channels consistently delivering conversions below target CPA.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05840" y="50292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Engagement Funnel Handoff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71600" y="53035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high-CTR top-funnel campaigns delivering cheap traffic and routes them into bottom-funnel retargeting sequences.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223760" y="1828800"/>
            <a:ext cx="4206240" cy="4297680"/>
          </a:xfrm>
          <a:prstGeom prst="roundRect">
            <a:avLst>
              <a:gd name="adj" fmla="val 2609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HEURISTIC CALIBRATION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0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Closed-Loop Feedback Loop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0" y="2697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teams can directly shape algorithmic logic without code modifications: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498080" y="3291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One-Click Dismissal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26680" y="349300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Dismiss tactical items once completed to keep daily directives fresh.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0" y="39502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Natural Language Tuning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26680" y="415137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 the system: "Prioritize LinkedIn for B2B" or "Be conservative with Google spend".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0" y="460857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Target Strictness Sliders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26680" y="480974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between Strict ($50 CPA), Balanced ($65 CPA), and Aggressive ($85+ CPA) modes.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0" y="526694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100% Client-Side Privacy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26680" y="546811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persist locally with zero server quota exhaustion and zero LLM hallucination.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W20→W0 Normalized Timeline &amp; Pacing Forecaster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Eliminating calendar disparities by benchmarking campaigns against relative launch dates.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698480" cy="0"/>
          </a:xfrm>
          <a:prstGeom prst="line">
            <a:avLst/>
          </a:prstGeom>
          <a:noFill/>
          <a:ln w="12700">
            <a:solidFill>
              <a:srgbClr val="1E49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MARKETING INTELLIGENCE PLATFORM  |  CONFIDENTIAL EXECUTIVE OVERVIEW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6400800"/>
            <a:ext cx="1097280" cy="27432"/>
          </a:xfrm>
          <a:prstGeom prst="rect">
            <a:avLst/>
          </a:prstGeom>
          <a:solidFill>
            <a:srgbClr val="CEDC2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28800"/>
            <a:ext cx="10698480" cy="1280160"/>
          </a:xfrm>
          <a:prstGeom prst="roundRect">
            <a:avLst>
              <a:gd name="adj" fmla="val 7143"/>
            </a:avLst>
          </a:prstGeom>
          <a:solidFill>
            <a:srgbClr val="102E52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WEEKS-TO-LAUNCH TIMELINE ENGINE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05840" y="2286000"/>
            <a:ext cx="1143000" cy="594360"/>
          </a:xfrm>
          <a:prstGeom prst="rect">
            <a:avLst/>
          </a:prstGeom>
          <a:solidFill>
            <a:srgbClr val="163B6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2860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W20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0" y="2286000"/>
            <a:ext cx="1143000" cy="594360"/>
          </a:xfrm>
          <a:prstGeom prst="rect">
            <a:avLst/>
          </a:prstGeom>
          <a:solidFill>
            <a:srgbClr val="163B6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2860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Consideration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566160" y="2286000"/>
            <a:ext cx="1143000" cy="594360"/>
          </a:xfrm>
          <a:prstGeom prst="rect">
            <a:avLst/>
          </a:prstGeom>
          <a:solidFill>
            <a:srgbClr val="163B6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2860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Bird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1143000" cy="594360"/>
          </a:xfrm>
          <a:prstGeom prst="rect">
            <a:avLst/>
          </a:prstGeom>
          <a:solidFill>
            <a:srgbClr val="163B6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2860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W8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26480" y="2286000"/>
            <a:ext cx="1143000" cy="594360"/>
          </a:xfrm>
          <a:prstGeom prst="rect">
            <a:avLst/>
          </a:prstGeom>
          <a:solidFill>
            <a:srgbClr val="14A6D9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2860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406640" y="2286000"/>
            <a:ext cx="1143000" cy="594360"/>
          </a:xfrm>
          <a:prstGeom prst="rect">
            <a:avLst/>
          </a:prstGeom>
          <a:solidFill>
            <a:srgbClr val="14A6D9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2860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Burst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686800" y="2286000"/>
            <a:ext cx="1143000" cy="594360"/>
          </a:xfrm>
          <a:prstGeom prst="rect">
            <a:avLst/>
          </a:prstGeom>
          <a:solidFill>
            <a:srgbClr val="14A6D9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22860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Countdown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966960" y="2286000"/>
            <a:ext cx="1143000" cy="594360"/>
          </a:xfrm>
          <a:prstGeom prst="rect">
            <a:avLst/>
          </a:prstGeom>
          <a:solidFill>
            <a:srgbClr val="CEDC28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2286000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W0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4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Launch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1520" y="333756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566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Weekly Pacing Table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0120" y="40233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Week-by-week delta spend &amp; impression tracking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CPA velocity against weekly media plans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Overpacing (&gt;115%) and Underpacing (&lt;85%) drift alerts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Single-click week isolation to drill into channel performance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89120" y="333756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566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Forecaster &amp; Daily Run-Rate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617720" y="40233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Projects final budget realization based on active daily run-rate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Calculates remaining budget runway against days until doors open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Automatically flags budget exhaustion risks 14 days before flight ends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Dynamic daily recommended spend recommendations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46720" y="333756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3566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Burst &amp; Phase Flighting Engine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8275320" y="402336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Distinguishes continuous flighting from aggressive ticket sale bursts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Multi-phase budget tracking (Awareness vs Conversion)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Cross-event weekly synchronization regardless of calendar date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High-velocity lead pacing comparison against historical events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DIAGNOSTICS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Quadrants &amp; Creative Fatigue Radar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efficiency matrix coupled with early warning creative frequency decay alerts.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698480" cy="0"/>
          </a:xfrm>
          <a:prstGeom prst="line">
            <a:avLst/>
          </a:prstGeom>
          <a:noFill/>
          <a:ln w="12700">
            <a:solidFill>
              <a:srgbClr val="1E49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MARKETING INTELLIGENCE PLATFORM  |  CONFIDENTIAL EXECUTIVE OVERVIEW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6400800"/>
            <a:ext cx="1097280" cy="27432"/>
          </a:xfrm>
          <a:prstGeom prst="rect">
            <a:avLst/>
          </a:prstGeom>
          <a:solidFill>
            <a:srgbClr val="CEDC2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2880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EFFICIENCY QUADRANT (SPEND VS CPA)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423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Stars (High Volume, Low CPA)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drivers delivering strong scale below target CPA. Action: Protect budget and expand reach.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3291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Niche Scale (Low Spend, Low CPA)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35661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efficient ad channels operating under budget. Action: Safely scale spend +15% weekly.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4160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Cost Sinks (High Spend, High CPA)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4434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budget bleeds generating expensive leads. Action: Immediate audience capping and spend audit.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50292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🧪 Experimental (Low Spend, High CPA)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530352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flight variants with insufficient conversion volume. Action: Restructure creative or pause.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182880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011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CREATIVE FATIGUE &amp; SATURATION RADAR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2331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Impression Frequency vs CTR Decline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278892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SATURATION DETECTION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92240" y="300837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the correlation between rising impression frequency (&gt; 3.5x) and decaying click-through rates (-25% over 7 days).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92240" y="361188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WARNING RUNWAY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92240" y="383133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creative and performance teams 5 to 7 days before creative fatigue triggers severe conversion CPA inflation.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92240" y="443484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 DEPRECIATION RECOMMENDATIONS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92240" y="465429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actionable refresh directives: "Swap video creative on Meta", "Test new hook copy on Google", or "Refresh carousel slides".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5257800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WINNING ASSET IDENTIFICATION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92240" y="547725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Highlights high-performing baseline creatives that maintain stable CTR across heavy impression volume.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Media Planning &amp; Scenario Simulator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Projecting incremental conversions, ROI impact, and optimal channel budget allocation.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698480" cy="0"/>
          </a:xfrm>
          <a:prstGeom prst="line">
            <a:avLst/>
          </a:prstGeom>
          <a:noFill/>
          <a:ln w="12700">
            <a:solidFill>
              <a:srgbClr val="1E49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MARKETING INTELLIGENCE PLATFORM  |  CONFIDENTIAL EXECUTIVE OVERVIEW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6400800"/>
            <a:ext cx="1097280" cy="27432"/>
          </a:xfrm>
          <a:prstGeom prst="rect">
            <a:avLst/>
          </a:prstGeom>
          <a:solidFill>
            <a:srgbClr val="CEDC2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288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Budget Scenario Modeling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242316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Interactive sliders allow planners to model budget shifts (e.g. +$50K to Google Ads, -$25K from low-performing channels)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Immediately forecasts expected conversion delta, blended CPA, and ticket volume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wait time: instant client-side algorithmic recalculation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Diminishing Returns Modeling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17720" y="242316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Integrates mathematical saturation curves per advertising platform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Flags the inflection point where additional budget yields diminishing conversion returns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Recommends optimal budget ceilings per marketing channel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011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Cross-Event Benchmark Reallocation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75320" y="242316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Compares planned budgets directly against historical event run-rates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Identifies underfunded growth channels based on past portfolio winners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Exportable executive summaries for client and stakeholder budget approvals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2519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163B66"/>
          </a:solidFill>
          <a:ln w="19050">
            <a:solidFill>
              <a:srgbClr val="CEDC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434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VALUE PROPOSITION: VALUE OVER STATIC SPREADSHEETS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05840" y="4754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Spreadsheet Planning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05840" y="50292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Disconnected from live performance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hours of manual manual recalculation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Lacks saturation curve awareness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Rigid, one-off snapshot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47548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Live Simulator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09360" y="50292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Continuously grounded in actual cost-per-click &amp; CPA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Instantaneous scenario re-forecasting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Prevents overspending on saturated channels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Directly informs daily optimization decisions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DEPLOYMENT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TV Wallboard &amp; Executive Presentation Hub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for boardroom screens, live event command centers, and partner display walls.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698480" cy="0"/>
          </a:xfrm>
          <a:prstGeom prst="line">
            <a:avLst/>
          </a:prstGeom>
          <a:noFill/>
          <a:ln w="12700">
            <a:solidFill>
              <a:srgbClr val="1E49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MARKETING INTELLIGENCE PLATFORM  |  CONFIDENTIAL EXECUTIVE OVERVIEW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6400800"/>
            <a:ext cx="1097280" cy="27432"/>
          </a:xfrm>
          <a:prstGeom prst="rect">
            <a:avLst/>
          </a:prstGeom>
          <a:solidFill>
            <a:srgbClr val="CEDC2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2880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Hands-Free Auto-Cycling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Configurable view cycling across Overview, Weekly Pacing, Campaign Dynamics, and Creative Radar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Adjustable timer presets (15s, 30s, 60s) with smooth transition animation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One-touch pause/resume to freeze display during stakeholder discussions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High-Contrast Large-Format Theme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265176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Ultra-dark slate backdrop (#0A2442) engineered for 4K / 8K TV displays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Vibrant accent highlights (Palm Glow lime and Riyadh Sky cyan) visible across conference rooms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Large-scale typography and prominent metric deltas visible from distance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103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Background Telemetry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265176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Silent auto-refresh in the background without screen flickering or jarring layout shifts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system heartbeat badge indicating active connection health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 leak protection preventing browser crashes during multi-day wallboard uptime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 Security &amp; Granular Feature Gating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role-based authorization, immutable audit trails, and zero-downtime feature management.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698480" cy="0"/>
          </a:xfrm>
          <a:prstGeom prst="line">
            <a:avLst/>
          </a:prstGeom>
          <a:noFill/>
          <a:ln w="12700">
            <a:solidFill>
              <a:srgbClr val="1E49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MARKETING INTELLIGENCE PLATFORM  |  CONFIDENTIAL EXECUTIVE OVERVIEW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6400800"/>
            <a:ext cx="1097280" cy="27432"/>
          </a:xfrm>
          <a:prstGeom prst="rect">
            <a:avLst/>
          </a:prstGeom>
          <a:solidFill>
            <a:srgbClr val="CEDC2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2880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9339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HIERARCHY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221284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Multi-Tier Role-Based Access Control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" y="2578608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Super Admin: Complete governance, feature controls, user access, version history, and API quotas.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Admin: Full operational control over event definitions, health alerts, and dimension audits.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 User: Interactive access to all marketing views with administrative settings hidden.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Non-Finance Viewer: Automatic masking of budget and spend figures for external partner viewing.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9339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CONTROLS HUB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92240" y="221284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1-Click Feature Flag Management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2578608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Granular control across 24 distinct dashboard modules without deploying code.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Three-state gating per feature: Public, Admin Only, or Completely Disabled.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persona preview mode allows Super Admins to verify views as standard users.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406908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23367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&amp; AUDIT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05840" y="445312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Dimension Monitoring &amp; Anomalies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4818888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Automatic detection of unmapped UTM tags, rogue marketing channels, and naming discrepancies.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email and digest notifications via SMTP when data anomalies or sheet lags occur.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fallback taxonomy mapping preserves unbroken downstream analytics.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4069080"/>
            <a:ext cx="5212080" cy="2011680"/>
          </a:xfrm>
          <a:prstGeom prst="roundRect">
            <a:avLst>
              <a:gd name="adj" fmla="val 5455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233672"/>
            <a:ext cx="4663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&amp; RECOVERY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92240" y="445312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 Version History &amp; 1-Click Rollback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92240" y="4818888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 configuration update, event status change, or quota edit logs an immutable snapshot.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attribution tracking (author email, timestamp, operation type, delta summary).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One-click rollback restores prior stable configuration states in under 1 second.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BENCHMARKS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&amp; High-Availability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a hardened Next.js foundation delivering sub-50ms query speeds under heavy data volume.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698480" cy="0"/>
          </a:xfrm>
          <a:prstGeom prst="line">
            <a:avLst/>
          </a:prstGeom>
          <a:noFill/>
          <a:ln w="12700">
            <a:solidFill>
              <a:srgbClr val="1E49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MARKETING INTELLIGENCE PLATFORM  |  CONFIDENTIAL EXECUTIVE OVERVIEW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6400800"/>
            <a:ext cx="1097280" cy="27432"/>
          </a:xfrm>
          <a:prstGeom prst="rect">
            <a:avLst/>
          </a:prstGeom>
          <a:solidFill>
            <a:srgbClr val="CEDC2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2880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11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50ms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Response Time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8529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In-memory TTL cache with stale-while-revalidate fallback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0" y="182880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011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15,000+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57600" y="25603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Handled Seamlessly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0" y="28529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Instantaneous multi-tab aggregation across massive events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17920" y="182880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011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Quota Risk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00800" y="25603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External LLM Dependency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28529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deterministic local computation eliminates API outages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61120" y="1828800"/>
            <a:ext cx="2514600" cy="1645920"/>
          </a:xfrm>
          <a:prstGeom prst="roundRect">
            <a:avLst>
              <a:gd name="adj" fmla="val 6667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20116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Sync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0" y="256032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Dual-Repo Mirror Backup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44000" y="28529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pre-push mirroring guarantees disaster recovery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31520" y="3749040"/>
            <a:ext cx="10698480" cy="2377440"/>
          </a:xfrm>
          <a:prstGeom prst="roundRect">
            <a:avLst>
              <a:gd name="adj" fmla="val 4615"/>
            </a:avLst>
          </a:prstGeom>
          <a:solidFill>
            <a:srgbClr val="102E52"/>
          </a:solidFill>
          <a:ln w="15240">
            <a:solidFill>
              <a:srgbClr val="1E49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931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ARCHITECTURAL SAFEGUARDS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" y="425196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In-Flight Request Coalescing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234440" y="447141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20 users access the dashboard simultaneously, exactly 1 upstream request is dispatched, preventing rate limits.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425196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Zero Layout Shift Virtualization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37960" y="447141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flex grid architecture renders responsive multi-tier filter bars without DOM reflow or visual stutter.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" y="51206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Strict Automated Testing Gate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234440" y="534009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build must pass 433 automated test suites covering metric math, timeline countdowns, and browser rendering.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512064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Deterministic Reproducibility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537960" y="534009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mathematical heuristics produce exact, auditable results that stakeholders can verify without black-box opacity.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Business ROI &amp; Strategic Value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marketing operations from reactive reporting to proactive predictive governance.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698480" cy="0"/>
          </a:xfrm>
          <a:prstGeom prst="line">
            <a:avLst/>
          </a:prstGeom>
          <a:noFill/>
          <a:ln w="12700">
            <a:solidFill>
              <a:srgbClr val="1E49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MARKETING INTELLIGENCE PLATFORM  |  CONFIDENTIAL EXECUTIVE OVERVIEW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6400800"/>
            <a:ext cx="1097280" cy="27432"/>
          </a:xfrm>
          <a:prstGeom prst="rect">
            <a:avLst/>
          </a:prstGeom>
          <a:solidFill>
            <a:srgbClr val="CEDC28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828800"/>
            <a:ext cx="3383280" cy="4297680"/>
          </a:xfrm>
          <a:prstGeom prst="roundRect">
            <a:avLst>
              <a:gd name="adj" fmla="val 4054"/>
            </a:avLst>
          </a:prstGeom>
          <a:solidFill>
            <a:srgbClr val="102E52"/>
          </a:solidFill>
          <a:ln w="19050">
            <a:solidFill>
              <a:srgbClr val="1E49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574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OPTIMIZATION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23317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100584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Efficiency Gain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05840" y="352044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creative fatigue radar and high-CPA bleeds elimination redirect up to 28% of previously wasted ad spend into high-converting audience segments.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828800"/>
            <a:ext cx="3383280" cy="4297680"/>
          </a:xfrm>
          <a:prstGeom prst="roundRect">
            <a:avLst>
              <a:gd name="adj" fmla="val 4054"/>
            </a:avLst>
          </a:prstGeom>
          <a:solidFill>
            <a:srgbClr val="102E52"/>
          </a:solidFill>
          <a:ln w="19050">
            <a:solidFill>
              <a:srgbClr val="1E49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0574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VELOCITY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3440" y="23317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66344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Decision Cycles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63440" y="352044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multi-day spreadsheet compilation with automated daily tactical directives, enabling media buyers to reallocate flight budgets in real time.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1828800"/>
            <a:ext cx="3383280" cy="4297680"/>
          </a:xfrm>
          <a:prstGeom prst="roundRect">
            <a:avLst>
              <a:gd name="adj" fmla="val 4054"/>
            </a:avLst>
          </a:prstGeom>
          <a:solidFill>
            <a:srgbClr val="102E52"/>
          </a:solidFill>
          <a:ln w="19050">
            <a:solidFill>
              <a:srgbClr val="1E49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0574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ED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CONFIDENCE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321040" y="233172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832104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A6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Day Readiness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21040" y="352044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W20→W0 relative timeline benchmarking ensures complete budget realization without end-of-flight budget panic or early exhaustion.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Enterprise Performance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Marketing Intelligence &amp; Performance Platform</dc:title>
  <dc:subject>PptxGenJS Presentation</dc:subject>
  <dc:creator>Tahaluf Analytics Architecture Team</dc:creator>
  <cp:lastModifiedBy>Tahaluf Analytics Architecture Team</cp:lastModifiedBy>
  <cp:revision>1</cp:revision>
  <dcterms:created xsi:type="dcterms:W3CDTF">2026-10-29T05:41:14Z</dcterms:created>
  <dcterms:modified xsi:type="dcterms:W3CDTF">2026-10-29T05:41:14Z</dcterms:modified>
</cp:coreProperties>
</file>